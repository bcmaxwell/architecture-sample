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request left to right, then explain why auth sits at the API boundary. The dashed lines are dependencies, not request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The permission boundary is the substance — anyone can draw a CI pipeline; scoping the deploy identity is what separates production experience from a tutorial. And name the manual-submission gap before they find it: knowing what isn't automated yet is part of documenting a system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decision was made from measured workload, not a guess, and it is reversible. Be ready to explain how the 96% figure was measured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486400" cy="502920"/>
          </a:xfrm>
          <a:prstGeom prst="rect">
            <a:avLst/>
          </a:prstGeom>
          <a:noFill/>
          <a:ln/>
        </p:spPr>
        <p:txBody>
          <a:bodyPr wrap="square" lIns="0" tIns="0" rIns="0" bIns="0" rtlCol="0" anchor="ctr"/>
          <a:lstStyle/>
          <a:p>
            <a:pPr indent="0" marL="0">
              <a:buNone/>
            </a:pPr>
            <a:r>
              <a:rPr lang="en-US" sz="3800" b="1" dirty="0">
                <a:solidFill>
                  <a:srgbClr val="1B2A33"/>
                </a:solidFill>
                <a:latin typeface="Cambria" pitchFamily="34" charset="0"/>
                <a:ea typeface="Cambria" pitchFamily="34" charset="-122"/>
                <a:cs typeface="Cambria" pitchFamily="34" charset="-120"/>
              </a:rPr>
              <a:t>Request Path</a:t>
            </a:r>
            <a:endParaRPr lang="en-US" sz="3800" dirty="0"/>
          </a:p>
        </p:txBody>
      </p:sp>
      <p:sp>
        <p:nvSpPr>
          <p:cNvPr id="3" name="Text 1"/>
          <p:cNvSpPr txBox="1"/>
          <p:nvPr/>
        </p:nvSpPr>
        <p:spPr>
          <a:xfrm>
            <a:off x="457200" y="841248"/>
            <a:ext cx="7315200" cy="274320"/>
          </a:xfrm>
          <a:prstGeom prst="rect">
            <a:avLst/>
          </a:prstGeom>
          <a:noFill/>
          <a:ln/>
        </p:spPr>
        <p:txBody>
          <a:bodyPr wrap="square" lIns="0" tIns="0" rIns="0" bIns="0" rtlCol="0" anchor="ctr"/>
          <a:lstStyle/>
          <a:p>
            <a:pPr indent="0" marL="0">
              <a:buNone/>
            </a:pPr>
            <a:r>
              <a:rPr lang="en-US" sz="1400" dirty="0">
                <a:solidFill>
                  <a:srgbClr val="4A5A66"/>
                </a:solidFill>
                <a:latin typeface="Calibri" pitchFamily="34" charset="0"/>
                <a:ea typeface="Calibri" pitchFamily="34" charset="-122"/>
                <a:cs typeface="Calibri" pitchFamily="34" charset="-120"/>
              </a:rPr>
              <a:t>A single authenticated request, browser to database</a:t>
            </a:r>
            <a:endParaRPr lang="en-US" sz="1400" dirty="0"/>
          </a:p>
        </p:txBody>
      </p:sp>
      <p:sp>
        <p:nvSpPr>
          <p:cNvPr id="4" name="Shape 2"/>
          <p:cNvSpPr/>
          <p:nvPr/>
        </p:nvSpPr>
        <p:spPr>
          <a:xfrm>
            <a:off x="548640" y="1481328"/>
            <a:ext cx="1600200" cy="914400"/>
          </a:xfrm>
          <a:prstGeom prst="roundRect">
            <a:avLst>
              <a:gd name="adj" fmla="val 8000"/>
            </a:avLst>
          </a:prstGeom>
          <a:solidFill>
            <a:srgbClr val="F1F4F6"/>
          </a:solidFill>
          <a:ln w="12700">
            <a:solidFill>
              <a:srgbClr val="D5DCE1"/>
            </a:solidFill>
            <a:prstDash val="solid"/>
          </a:ln>
        </p:spPr>
      </p:sp>
      <p:sp>
        <p:nvSpPr>
          <p:cNvPr id="5" name="Text 3"/>
          <p:cNvSpPr txBox="1"/>
          <p:nvPr/>
        </p:nvSpPr>
        <p:spPr>
          <a:xfrm>
            <a:off x="548640" y="1609344"/>
            <a:ext cx="1600200" cy="274320"/>
          </a:xfrm>
          <a:prstGeom prst="rect">
            <a:avLst/>
          </a:prstGeom>
          <a:noFill/>
          <a:ln/>
        </p:spPr>
        <p:txBody>
          <a:bodyPr wrap="square" lIns="0" tIns="0" rIns="0" bIns="0" rtlCol="0" anchor="ctr"/>
          <a:lstStyle/>
          <a:p>
            <a:pPr algn="ctr" indent="0" marL="0">
              <a:buNone/>
            </a:pPr>
            <a:r>
              <a:rPr lang="en-US" sz="1400" b="1" dirty="0">
                <a:solidFill>
                  <a:srgbClr val="1B2A33"/>
                </a:solidFill>
                <a:latin typeface="Calibri" pitchFamily="34" charset="0"/>
                <a:ea typeface="Calibri" pitchFamily="34" charset="-122"/>
                <a:cs typeface="Calibri" pitchFamily="34" charset="-120"/>
              </a:rPr>
              <a:t>Browser</a:t>
            </a:r>
            <a:endParaRPr lang="en-US" sz="1400" dirty="0"/>
          </a:p>
        </p:txBody>
      </p:sp>
      <p:sp>
        <p:nvSpPr>
          <p:cNvPr id="6" name="Text 4"/>
          <p:cNvSpPr txBox="1"/>
          <p:nvPr/>
        </p:nvSpPr>
        <p:spPr>
          <a:xfrm>
            <a:off x="548640" y="1901952"/>
            <a:ext cx="1600200" cy="411480"/>
          </a:xfrm>
          <a:prstGeom prst="rect">
            <a:avLst/>
          </a:prstGeom>
          <a:noFill/>
          <a:ln/>
        </p:spPr>
        <p:txBody>
          <a:bodyPr wrap="square" lIns="0" tIns="0" rIns="0" bIns="0" rtlCol="0" anchor="ctr"/>
          <a:lstStyle/>
          <a:p>
            <a:pPr algn="ctr" indent="0" marL="0">
              <a:lnSpc>
                <a:spcPts val="1200"/>
              </a:lnSpc>
              <a:buNone/>
            </a:pPr>
            <a:r>
              <a:rPr lang="en-US" sz="1000" dirty="0">
                <a:solidFill>
                  <a:srgbClr val="4A5A66"/>
                </a:solidFill>
                <a:latin typeface="Calibri" pitchFamily="34" charset="0"/>
                <a:ea typeface="Calibri" pitchFamily="34" charset="-122"/>
                <a:cs typeface="Calibri" pitchFamily="34" charset="-120"/>
              </a:rPr>
              <a:t>Authenticated</a:t>
            </a:r>
            <a:endParaRPr lang="en-US" sz="1000" dirty="0"/>
          </a:p>
          <a:p>
            <a:pPr algn="ctr" indent="0" marL="0">
              <a:lnSpc>
                <a:spcPts val="1200"/>
              </a:lnSpc>
              <a:buNone/>
            </a:pPr>
            <a:r>
              <a:rPr lang="en-US" sz="1000" dirty="0">
                <a:solidFill>
                  <a:srgbClr val="4A5A66"/>
                </a:solidFill>
                <a:latin typeface="Calibri" pitchFamily="34" charset="0"/>
                <a:ea typeface="Calibri" pitchFamily="34" charset="-122"/>
                <a:cs typeface="Calibri" pitchFamily="34" charset="-120"/>
              </a:rPr>
              <a:t>session</a:t>
            </a:r>
            <a:endParaRPr lang="en-US" sz="1000" dirty="0"/>
          </a:p>
        </p:txBody>
      </p:sp>
      <p:sp>
        <p:nvSpPr>
          <p:cNvPr id="7" name="Shape 5"/>
          <p:cNvSpPr/>
          <p:nvPr/>
        </p:nvSpPr>
        <p:spPr>
          <a:xfrm>
            <a:off x="2295144" y="1837944"/>
            <a:ext cx="256032" cy="201168"/>
          </a:xfrm>
          <a:prstGeom prst="rightArrow">
            <a:avLst/>
          </a:prstGeom>
          <a:solidFill>
            <a:srgbClr val="0F766E"/>
          </a:solidFill>
          <a:ln w="12700">
            <a:solidFill>
              <a:srgbClr val="0F766E"/>
            </a:solidFill>
            <a:prstDash val="solid"/>
          </a:ln>
        </p:spPr>
      </p:sp>
      <p:sp>
        <p:nvSpPr>
          <p:cNvPr id="8" name="Shape 6"/>
          <p:cNvSpPr/>
          <p:nvPr/>
        </p:nvSpPr>
        <p:spPr>
          <a:xfrm>
            <a:off x="2697480" y="1481328"/>
            <a:ext cx="1600200" cy="914400"/>
          </a:xfrm>
          <a:prstGeom prst="roundRect">
            <a:avLst>
              <a:gd name="adj" fmla="val 8000"/>
            </a:avLst>
          </a:prstGeom>
          <a:solidFill>
            <a:srgbClr val="1B2A33"/>
          </a:solidFill>
          <a:ln w="12700">
            <a:solidFill>
              <a:srgbClr val="1B2A33"/>
            </a:solidFill>
            <a:prstDash val="solid"/>
          </a:ln>
        </p:spPr>
      </p:sp>
      <p:sp>
        <p:nvSpPr>
          <p:cNvPr id="9" name="Text 7"/>
          <p:cNvSpPr txBox="1"/>
          <p:nvPr/>
        </p:nvSpPr>
        <p:spPr>
          <a:xfrm>
            <a:off x="2697480" y="1609344"/>
            <a:ext cx="16002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Web Frontend</a:t>
            </a:r>
            <a:endParaRPr lang="en-US" sz="1400" dirty="0"/>
          </a:p>
        </p:txBody>
      </p:sp>
      <p:sp>
        <p:nvSpPr>
          <p:cNvPr id="10" name="Text 8"/>
          <p:cNvSpPr txBox="1"/>
          <p:nvPr/>
        </p:nvSpPr>
        <p:spPr>
          <a:xfrm>
            <a:off x="2697480" y="1901952"/>
            <a:ext cx="1600200" cy="411480"/>
          </a:xfrm>
          <a:prstGeom prst="rect">
            <a:avLst/>
          </a:prstGeom>
          <a:noFill/>
          <a:ln/>
        </p:spPr>
        <p:txBody>
          <a:bodyPr wrap="square" lIns="0" tIns="0" rIns="0" bIns="0" rtlCol="0" anchor="ctr"/>
          <a:lstStyle/>
          <a:p>
            <a:pPr algn="ctr" indent="0" marL="0">
              <a:lnSpc>
                <a:spcPts val="1200"/>
              </a:lnSpc>
              <a:buNone/>
            </a:pPr>
            <a:r>
              <a:rPr lang="en-US" sz="1000" dirty="0">
                <a:solidFill>
                  <a:srgbClr val="D5DCE1"/>
                </a:solidFill>
                <a:latin typeface="Calibri" pitchFamily="34" charset="0"/>
                <a:ea typeface="Calibri" pitchFamily="34" charset="-122"/>
                <a:cs typeface="Calibri" pitchFamily="34" charset="-120"/>
              </a:rPr>
              <a:t>Server-rendered</a:t>
            </a:r>
            <a:endParaRPr lang="en-US" sz="1000" dirty="0"/>
          </a:p>
          <a:p>
            <a:pPr algn="ctr" indent="0" marL="0">
              <a:lnSpc>
                <a:spcPts val="1200"/>
              </a:lnSpc>
              <a:buNone/>
            </a:pPr>
            <a:r>
              <a:rPr lang="en-US" sz="1000" dirty="0">
                <a:solidFill>
                  <a:srgbClr val="D5DCE1"/>
                </a:solidFill>
                <a:latin typeface="Calibri" pitchFamily="34" charset="0"/>
                <a:ea typeface="Calibri" pitchFamily="34" charset="-122"/>
                <a:cs typeface="Calibri" pitchFamily="34" charset="-120"/>
              </a:rPr>
              <a:t>container</a:t>
            </a:r>
            <a:endParaRPr lang="en-US" sz="1000" dirty="0"/>
          </a:p>
        </p:txBody>
      </p:sp>
      <p:sp>
        <p:nvSpPr>
          <p:cNvPr id="11" name="Shape 9"/>
          <p:cNvSpPr/>
          <p:nvPr/>
        </p:nvSpPr>
        <p:spPr>
          <a:xfrm>
            <a:off x="4443984" y="1837944"/>
            <a:ext cx="256032" cy="201168"/>
          </a:xfrm>
          <a:prstGeom prst="rightArrow">
            <a:avLst/>
          </a:prstGeom>
          <a:solidFill>
            <a:srgbClr val="0F766E"/>
          </a:solidFill>
          <a:ln w="12700">
            <a:solidFill>
              <a:srgbClr val="0F766E"/>
            </a:solidFill>
            <a:prstDash val="solid"/>
          </a:ln>
        </p:spPr>
      </p:sp>
      <p:sp>
        <p:nvSpPr>
          <p:cNvPr id="12" name="Shape 10"/>
          <p:cNvSpPr/>
          <p:nvPr/>
        </p:nvSpPr>
        <p:spPr>
          <a:xfrm>
            <a:off x="4846320" y="1481328"/>
            <a:ext cx="1600200" cy="914400"/>
          </a:xfrm>
          <a:prstGeom prst="roundRect">
            <a:avLst>
              <a:gd name="adj" fmla="val 8000"/>
            </a:avLst>
          </a:prstGeom>
          <a:solidFill>
            <a:srgbClr val="1B2A33"/>
          </a:solidFill>
          <a:ln w="12700">
            <a:solidFill>
              <a:srgbClr val="1B2A33"/>
            </a:solidFill>
            <a:prstDash val="solid"/>
          </a:ln>
        </p:spPr>
      </p:sp>
      <p:sp>
        <p:nvSpPr>
          <p:cNvPr id="13" name="Text 11"/>
          <p:cNvSpPr txBox="1"/>
          <p:nvPr/>
        </p:nvSpPr>
        <p:spPr>
          <a:xfrm>
            <a:off x="4846320" y="1609344"/>
            <a:ext cx="16002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API Service</a:t>
            </a:r>
            <a:endParaRPr lang="en-US" sz="1400" dirty="0"/>
          </a:p>
        </p:txBody>
      </p:sp>
      <p:sp>
        <p:nvSpPr>
          <p:cNvPr id="14" name="Text 12"/>
          <p:cNvSpPr txBox="1"/>
          <p:nvPr/>
        </p:nvSpPr>
        <p:spPr>
          <a:xfrm>
            <a:off x="4846320" y="1901952"/>
            <a:ext cx="1600200" cy="411480"/>
          </a:xfrm>
          <a:prstGeom prst="rect">
            <a:avLst/>
          </a:prstGeom>
          <a:noFill/>
          <a:ln/>
        </p:spPr>
        <p:txBody>
          <a:bodyPr wrap="square" lIns="0" tIns="0" rIns="0" bIns="0" rtlCol="0" anchor="ctr"/>
          <a:lstStyle/>
          <a:p>
            <a:pPr algn="ctr" indent="0" marL="0">
              <a:lnSpc>
                <a:spcPts val="1200"/>
              </a:lnSpc>
              <a:buNone/>
            </a:pPr>
            <a:r>
              <a:rPr lang="en-US" sz="1000" dirty="0">
                <a:solidFill>
                  <a:srgbClr val="D5DCE1"/>
                </a:solidFill>
                <a:latin typeface="Calibri" pitchFamily="34" charset="0"/>
                <a:ea typeface="Calibri" pitchFamily="34" charset="-122"/>
                <a:cs typeface="Calibri" pitchFamily="34" charset="-120"/>
              </a:rPr>
              <a:t>Stateless</a:t>
            </a:r>
            <a:endParaRPr lang="en-US" sz="1000" dirty="0"/>
          </a:p>
          <a:p>
            <a:pPr algn="ctr" indent="0" marL="0">
              <a:lnSpc>
                <a:spcPts val="1200"/>
              </a:lnSpc>
              <a:buNone/>
            </a:pPr>
            <a:r>
              <a:rPr lang="en-US" sz="1000" dirty="0">
                <a:solidFill>
                  <a:srgbClr val="D5DCE1"/>
                </a:solidFill>
                <a:latin typeface="Calibri" pitchFamily="34" charset="0"/>
                <a:ea typeface="Calibri" pitchFamily="34" charset="-122"/>
                <a:cs typeface="Calibri" pitchFamily="34" charset="-120"/>
              </a:rPr>
              <a:t>container</a:t>
            </a:r>
            <a:endParaRPr lang="en-US" sz="1000" dirty="0"/>
          </a:p>
        </p:txBody>
      </p:sp>
      <p:sp>
        <p:nvSpPr>
          <p:cNvPr id="15" name="Shape 13"/>
          <p:cNvSpPr/>
          <p:nvPr/>
        </p:nvSpPr>
        <p:spPr>
          <a:xfrm>
            <a:off x="6592824" y="1837944"/>
            <a:ext cx="256032" cy="201168"/>
          </a:xfrm>
          <a:prstGeom prst="rightArrow">
            <a:avLst/>
          </a:prstGeom>
          <a:solidFill>
            <a:srgbClr val="0F766E"/>
          </a:solidFill>
          <a:ln w="12700">
            <a:solidFill>
              <a:srgbClr val="0F766E"/>
            </a:solidFill>
            <a:prstDash val="solid"/>
          </a:ln>
        </p:spPr>
      </p:sp>
      <p:sp>
        <p:nvSpPr>
          <p:cNvPr id="16" name="Shape 14"/>
          <p:cNvSpPr/>
          <p:nvPr/>
        </p:nvSpPr>
        <p:spPr>
          <a:xfrm>
            <a:off x="6995160" y="1481328"/>
            <a:ext cx="1600200" cy="914400"/>
          </a:xfrm>
          <a:prstGeom prst="roundRect">
            <a:avLst>
              <a:gd name="adj" fmla="val 8000"/>
            </a:avLst>
          </a:prstGeom>
          <a:solidFill>
            <a:srgbClr val="1B2A33"/>
          </a:solidFill>
          <a:ln w="12700">
            <a:solidFill>
              <a:srgbClr val="1B2A33"/>
            </a:solidFill>
            <a:prstDash val="solid"/>
          </a:ln>
        </p:spPr>
      </p:sp>
      <p:sp>
        <p:nvSpPr>
          <p:cNvPr id="17" name="Text 15"/>
          <p:cNvSpPr txBox="1"/>
          <p:nvPr/>
        </p:nvSpPr>
        <p:spPr>
          <a:xfrm>
            <a:off x="6995160" y="1609344"/>
            <a:ext cx="16002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Relational DB</a:t>
            </a:r>
            <a:endParaRPr lang="en-US" sz="1400" dirty="0"/>
          </a:p>
        </p:txBody>
      </p:sp>
      <p:sp>
        <p:nvSpPr>
          <p:cNvPr id="18" name="Text 16"/>
          <p:cNvSpPr txBox="1"/>
          <p:nvPr/>
        </p:nvSpPr>
        <p:spPr>
          <a:xfrm>
            <a:off x="6995160" y="1901952"/>
            <a:ext cx="1600200" cy="411480"/>
          </a:xfrm>
          <a:prstGeom prst="rect">
            <a:avLst/>
          </a:prstGeom>
          <a:noFill/>
          <a:ln/>
        </p:spPr>
        <p:txBody>
          <a:bodyPr wrap="square" lIns="0" tIns="0" rIns="0" bIns="0" rtlCol="0" anchor="ctr"/>
          <a:lstStyle/>
          <a:p>
            <a:pPr algn="ctr" indent="0" marL="0">
              <a:lnSpc>
                <a:spcPts val="1200"/>
              </a:lnSpc>
              <a:buNone/>
            </a:pPr>
            <a:r>
              <a:rPr lang="en-US" sz="1000" dirty="0">
                <a:solidFill>
                  <a:srgbClr val="D5DCE1"/>
                </a:solidFill>
                <a:latin typeface="Calibri" pitchFamily="34" charset="0"/>
                <a:ea typeface="Calibri" pitchFamily="34" charset="-122"/>
                <a:cs typeface="Calibri" pitchFamily="34" charset="-120"/>
              </a:rPr>
              <a:t>Managed</a:t>
            </a:r>
            <a:endParaRPr lang="en-US" sz="1000" dirty="0"/>
          </a:p>
          <a:p>
            <a:pPr algn="ctr" indent="0" marL="0">
              <a:lnSpc>
                <a:spcPts val="1200"/>
              </a:lnSpc>
              <a:buNone/>
            </a:pPr>
            <a:r>
              <a:rPr lang="en-US" sz="1000" dirty="0">
                <a:solidFill>
                  <a:srgbClr val="D5DCE1"/>
                </a:solidFill>
                <a:latin typeface="Calibri" pitchFamily="34" charset="0"/>
                <a:ea typeface="Calibri" pitchFamily="34" charset="-122"/>
                <a:cs typeface="Calibri" pitchFamily="34" charset="-120"/>
              </a:rPr>
              <a:t>Postgres</a:t>
            </a:r>
            <a:endParaRPr lang="en-US" sz="1000" dirty="0"/>
          </a:p>
        </p:txBody>
      </p:sp>
      <p:sp>
        <p:nvSpPr>
          <p:cNvPr id="19" name="Shape 17"/>
          <p:cNvSpPr/>
          <p:nvPr/>
        </p:nvSpPr>
        <p:spPr>
          <a:xfrm>
            <a:off x="5646420" y="2395728"/>
            <a:ext cx="0" cy="457200"/>
          </a:xfrm>
          <a:prstGeom prst="line">
            <a:avLst/>
          </a:prstGeom>
          <a:noFill/>
          <a:ln w="19050">
            <a:solidFill>
              <a:srgbClr val="D5DCE1"/>
            </a:solidFill>
            <a:prstDash val="dash"/>
          </a:ln>
        </p:spPr>
      </p:sp>
      <p:sp>
        <p:nvSpPr>
          <p:cNvPr id="20" name="Shape 18"/>
          <p:cNvSpPr/>
          <p:nvPr/>
        </p:nvSpPr>
        <p:spPr>
          <a:xfrm>
            <a:off x="5646420" y="2852928"/>
            <a:ext cx="2103120" cy="0"/>
          </a:xfrm>
          <a:prstGeom prst="line">
            <a:avLst/>
          </a:prstGeom>
          <a:noFill/>
          <a:ln w="19050">
            <a:solidFill>
              <a:srgbClr val="D5DCE1"/>
            </a:solidFill>
            <a:prstDash val="dash"/>
          </a:ln>
        </p:spPr>
      </p:sp>
      <p:sp>
        <p:nvSpPr>
          <p:cNvPr id="21" name="Shape 19"/>
          <p:cNvSpPr/>
          <p:nvPr/>
        </p:nvSpPr>
        <p:spPr>
          <a:xfrm>
            <a:off x="5737860" y="2852928"/>
            <a:ext cx="0" cy="274320"/>
          </a:xfrm>
          <a:prstGeom prst="line">
            <a:avLst/>
          </a:prstGeom>
          <a:noFill/>
          <a:ln w="19050">
            <a:solidFill>
              <a:srgbClr val="D5DCE1"/>
            </a:solidFill>
            <a:prstDash val="dash"/>
          </a:ln>
        </p:spPr>
      </p:sp>
      <p:sp>
        <p:nvSpPr>
          <p:cNvPr id="22" name="Shape 20"/>
          <p:cNvSpPr/>
          <p:nvPr/>
        </p:nvSpPr>
        <p:spPr>
          <a:xfrm>
            <a:off x="4846320" y="3127248"/>
            <a:ext cx="1783080" cy="658368"/>
          </a:xfrm>
          <a:prstGeom prst="roundRect">
            <a:avLst>
              <a:gd name="adj" fmla="val 11111"/>
            </a:avLst>
          </a:prstGeom>
          <a:solidFill>
            <a:srgbClr val="F1F4F6"/>
          </a:solidFill>
          <a:ln w="12700">
            <a:solidFill>
              <a:srgbClr val="D5DCE1"/>
            </a:solidFill>
            <a:prstDash val="solid"/>
          </a:ln>
        </p:spPr>
      </p:sp>
      <p:sp>
        <p:nvSpPr>
          <p:cNvPr id="23" name="Text 21"/>
          <p:cNvSpPr txBox="1"/>
          <p:nvPr/>
        </p:nvSpPr>
        <p:spPr>
          <a:xfrm>
            <a:off x="4846320" y="3218688"/>
            <a:ext cx="1783080" cy="237744"/>
          </a:xfrm>
          <a:prstGeom prst="rect">
            <a:avLst/>
          </a:prstGeom>
          <a:noFill/>
          <a:ln/>
        </p:spPr>
        <p:txBody>
          <a:bodyPr wrap="square" lIns="0" tIns="0" rIns="0" bIns="0" rtlCol="0" anchor="ctr"/>
          <a:lstStyle/>
          <a:p>
            <a:pPr algn="ctr" indent="0" marL="0">
              <a:buNone/>
            </a:pPr>
            <a:r>
              <a:rPr lang="en-US" sz="1200" b="1" dirty="0">
                <a:solidFill>
                  <a:srgbClr val="1B2A33"/>
                </a:solidFill>
                <a:latin typeface="Calibri" pitchFamily="34" charset="0"/>
                <a:ea typeface="Calibri" pitchFamily="34" charset="-122"/>
                <a:cs typeface="Calibri" pitchFamily="34" charset="-120"/>
              </a:rPr>
              <a:t>Object Storage</a:t>
            </a:r>
            <a:endParaRPr lang="en-US" sz="1200" dirty="0"/>
          </a:p>
        </p:txBody>
      </p:sp>
      <p:sp>
        <p:nvSpPr>
          <p:cNvPr id="24" name="Text 22"/>
          <p:cNvSpPr txBox="1"/>
          <p:nvPr/>
        </p:nvSpPr>
        <p:spPr>
          <a:xfrm>
            <a:off x="4846320" y="3465576"/>
            <a:ext cx="1783080" cy="237744"/>
          </a:xfrm>
          <a:prstGeom prst="rect">
            <a:avLst/>
          </a:prstGeom>
          <a:noFill/>
          <a:ln/>
        </p:spPr>
        <p:txBody>
          <a:bodyPr wrap="square" lIns="0" tIns="0" rIns="0" bIns="0" rtlCol="0" anchor="ctr"/>
          <a:lstStyle/>
          <a:p>
            <a:pPr algn="ctr" indent="0" marL="0">
              <a:buNone/>
            </a:pPr>
            <a:r>
              <a:rPr lang="en-US" sz="1000" dirty="0">
                <a:solidFill>
                  <a:srgbClr val="4A5A66"/>
                </a:solidFill>
                <a:latin typeface="Calibri" pitchFamily="34" charset="0"/>
                <a:ea typeface="Calibri" pitchFamily="34" charset="-122"/>
                <a:cs typeface="Calibri" pitchFamily="34" charset="-120"/>
              </a:rPr>
              <a:t>File attachments</a:t>
            </a:r>
            <a:endParaRPr lang="en-US" sz="1000" dirty="0"/>
          </a:p>
        </p:txBody>
      </p:sp>
      <p:sp>
        <p:nvSpPr>
          <p:cNvPr id="25" name="Shape 23"/>
          <p:cNvSpPr/>
          <p:nvPr/>
        </p:nvSpPr>
        <p:spPr>
          <a:xfrm>
            <a:off x="7749540" y="2852928"/>
            <a:ext cx="0" cy="274320"/>
          </a:xfrm>
          <a:prstGeom prst="line">
            <a:avLst/>
          </a:prstGeom>
          <a:noFill/>
          <a:ln w="19050">
            <a:solidFill>
              <a:srgbClr val="D5DCE1"/>
            </a:solidFill>
            <a:prstDash val="dash"/>
          </a:ln>
        </p:spPr>
      </p:sp>
      <p:sp>
        <p:nvSpPr>
          <p:cNvPr id="26" name="Shape 24"/>
          <p:cNvSpPr/>
          <p:nvPr/>
        </p:nvSpPr>
        <p:spPr>
          <a:xfrm>
            <a:off x="6903720" y="3127248"/>
            <a:ext cx="1691640" cy="658368"/>
          </a:xfrm>
          <a:prstGeom prst="roundRect">
            <a:avLst>
              <a:gd name="adj" fmla="val 11111"/>
            </a:avLst>
          </a:prstGeom>
          <a:solidFill>
            <a:srgbClr val="F1F4F6"/>
          </a:solidFill>
          <a:ln w="12700">
            <a:solidFill>
              <a:srgbClr val="D5DCE1"/>
            </a:solidFill>
            <a:prstDash val="solid"/>
          </a:ln>
        </p:spPr>
      </p:sp>
      <p:sp>
        <p:nvSpPr>
          <p:cNvPr id="27" name="Text 25"/>
          <p:cNvSpPr txBox="1"/>
          <p:nvPr/>
        </p:nvSpPr>
        <p:spPr>
          <a:xfrm>
            <a:off x="6903720" y="3218688"/>
            <a:ext cx="1691640" cy="237744"/>
          </a:xfrm>
          <a:prstGeom prst="rect">
            <a:avLst/>
          </a:prstGeom>
          <a:noFill/>
          <a:ln/>
        </p:spPr>
        <p:txBody>
          <a:bodyPr wrap="square" lIns="0" tIns="0" rIns="0" bIns="0" rtlCol="0" anchor="ctr"/>
          <a:lstStyle/>
          <a:p>
            <a:pPr algn="ctr" indent="0" marL="0">
              <a:buNone/>
            </a:pPr>
            <a:r>
              <a:rPr lang="en-US" sz="1200" b="1" dirty="0">
                <a:solidFill>
                  <a:srgbClr val="1B2A33"/>
                </a:solidFill>
                <a:latin typeface="Calibri" pitchFamily="34" charset="0"/>
                <a:ea typeface="Calibri" pitchFamily="34" charset="-122"/>
                <a:cs typeface="Calibri" pitchFamily="34" charset="-120"/>
              </a:rPr>
              <a:t>Secret Manager</a:t>
            </a:r>
            <a:endParaRPr lang="en-US" sz="1200" dirty="0"/>
          </a:p>
        </p:txBody>
      </p:sp>
      <p:sp>
        <p:nvSpPr>
          <p:cNvPr id="28" name="Text 26"/>
          <p:cNvSpPr txBox="1"/>
          <p:nvPr/>
        </p:nvSpPr>
        <p:spPr>
          <a:xfrm>
            <a:off x="6903720" y="3465576"/>
            <a:ext cx="1691640" cy="237744"/>
          </a:xfrm>
          <a:prstGeom prst="rect">
            <a:avLst/>
          </a:prstGeom>
          <a:noFill/>
          <a:ln/>
        </p:spPr>
        <p:txBody>
          <a:bodyPr wrap="square" lIns="0" tIns="0" rIns="0" bIns="0" rtlCol="0" anchor="ctr"/>
          <a:lstStyle/>
          <a:p>
            <a:pPr algn="ctr" indent="0" marL="0">
              <a:buNone/>
            </a:pPr>
            <a:r>
              <a:rPr lang="en-US" sz="1000" dirty="0">
                <a:solidFill>
                  <a:srgbClr val="4A5A66"/>
                </a:solidFill>
                <a:latin typeface="Calibri" pitchFamily="34" charset="0"/>
                <a:ea typeface="Calibri" pitchFamily="34" charset="-122"/>
                <a:cs typeface="Calibri" pitchFamily="34" charset="-120"/>
              </a:rPr>
              <a:t>Runtime credentials</a:t>
            </a:r>
            <a:endParaRPr lang="en-US" sz="1000" dirty="0"/>
          </a:p>
        </p:txBody>
      </p:sp>
      <p:sp>
        <p:nvSpPr>
          <p:cNvPr id="29" name="Text 27"/>
          <p:cNvSpPr txBox="1"/>
          <p:nvPr/>
        </p:nvSpPr>
        <p:spPr>
          <a:xfrm>
            <a:off x="548640" y="4133088"/>
            <a:ext cx="8046720" cy="457200"/>
          </a:xfrm>
          <a:prstGeom prst="rect">
            <a:avLst/>
          </a:prstGeom>
          <a:noFill/>
          <a:ln/>
        </p:spPr>
        <p:txBody>
          <a:bodyPr wrap="square" lIns="0" tIns="0" rIns="0" bIns="0" rtlCol="0" anchor="ctr"/>
          <a:lstStyle/>
          <a:p>
            <a:pPr indent="0" marL="0">
              <a:buNone/>
            </a:pPr>
            <a:r>
              <a:rPr lang="en-US" sz="1100" i="1" dirty="0">
                <a:solidFill>
                  <a:srgbClr val="4A5A66"/>
                </a:solidFill>
                <a:latin typeface="Calibri" pitchFamily="34" charset="0"/>
                <a:ea typeface="Calibri" pitchFamily="34" charset="-122"/>
                <a:cs typeface="Calibri" pitchFamily="34" charset="-120"/>
              </a:rPr>
              <a:t>Both containers scale to zero between sessions. Identity is verified at the API boundary instead of the frontend, so the web tier holds no privileged credentials, and no secrets are baked into either image.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0" cy="502920"/>
          </a:xfrm>
          <a:prstGeom prst="rect">
            <a:avLst/>
          </a:prstGeom>
          <a:noFill/>
          <a:ln/>
        </p:spPr>
        <p:txBody>
          <a:bodyPr wrap="square" lIns="0" tIns="0" rIns="0" bIns="0" rtlCol="0" anchor="ctr"/>
          <a:lstStyle/>
          <a:p>
            <a:pPr indent="0" marL="0">
              <a:buNone/>
            </a:pPr>
            <a:r>
              <a:rPr lang="en-US" sz="3800" b="1" dirty="0">
                <a:solidFill>
                  <a:srgbClr val="1B2A33"/>
                </a:solidFill>
                <a:latin typeface="Cambria" pitchFamily="34" charset="0"/>
                <a:ea typeface="Cambria" pitchFamily="34" charset="-122"/>
                <a:cs typeface="Cambria" pitchFamily="34" charset="-120"/>
              </a:rPr>
              <a:t>Deploy Pipeline</a:t>
            </a:r>
            <a:endParaRPr lang="en-US" sz="3800" dirty="0"/>
          </a:p>
        </p:txBody>
      </p:sp>
      <p:sp>
        <p:nvSpPr>
          <p:cNvPr id="3" name="Text 1"/>
          <p:cNvSpPr txBox="1"/>
          <p:nvPr/>
        </p:nvSpPr>
        <p:spPr>
          <a:xfrm>
            <a:off x="457200" y="841248"/>
            <a:ext cx="8046720" cy="274320"/>
          </a:xfrm>
          <a:prstGeom prst="rect">
            <a:avLst/>
          </a:prstGeom>
          <a:noFill/>
          <a:ln/>
        </p:spPr>
        <p:txBody>
          <a:bodyPr wrap="square" lIns="0" tIns="0" rIns="0" bIns="0" rtlCol="0" anchor="ctr"/>
          <a:lstStyle/>
          <a:p>
            <a:pPr indent="0" marL="0">
              <a:buNone/>
            </a:pPr>
            <a:r>
              <a:rPr lang="en-US" sz="1400" dirty="0">
                <a:solidFill>
                  <a:srgbClr val="4A5A66"/>
                </a:solidFill>
                <a:latin typeface="Calibri" pitchFamily="34" charset="0"/>
                <a:ea typeface="Calibri" pitchFamily="34" charset="-122"/>
                <a:cs typeface="Calibri" pitchFamily="34" charset="-120"/>
              </a:rPr>
              <a:t>From a single code change to the live application in four steps</a:t>
            </a:r>
            <a:endParaRPr lang="en-US" sz="1400" dirty="0"/>
          </a:p>
        </p:txBody>
      </p:sp>
      <p:sp>
        <p:nvSpPr>
          <p:cNvPr id="4" name="Shape 2"/>
          <p:cNvSpPr/>
          <p:nvPr/>
        </p:nvSpPr>
        <p:spPr>
          <a:xfrm>
            <a:off x="457200" y="1517904"/>
            <a:ext cx="1828800" cy="1554480"/>
          </a:xfrm>
          <a:prstGeom prst="roundRect">
            <a:avLst>
              <a:gd name="adj" fmla="val 4706"/>
            </a:avLst>
          </a:prstGeom>
          <a:solidFill>
            <a:srgbClr val="F1F4F6"/>
          </a:solidFill>
          <a:ln w="12700">
            <a:solidFill>
              <a:srgbClr val="D5DCE1"/>
            </a:solidFill>
            <a:prstDash val="solid"/>
          </a:ln>
        </p:spPr>
      </p:sp>
      <p:sp>
        <p:nvSpPr>
          <p:cNvPr id="5" name="Shape 3"/>
          <p:cNvSpPr/>
          <p:nvPr/>
        </p:nvSpPr>
        <p:spPr>
          <a:xfrm>
            <a:off x="1170432" y="1719072"/>
            <a:ext cx="402336" cy="402336"/>
          </a:xfrm>
          <a:prstGeom prst="ellipse">
            <a:avLst/>
          </a:prstGeom>
          <a:solidFill>
            <a:srgbClr val="0F766E"/>
          </a:solidFill>
          <a:ln w="12700">
            <a:solidFill>
              <a:srgbClr val="0F766E"/>
            </a:solidFill>
            <a:prstDash val="solid"/>
          </a:ln>
        </p:spPr>
      </p:sp>
      <p:sp>
        <p:nvSpPr>
          <p:cNvPr id="6" name="Text 4"/>
          <p:cNvSpPr txBox="1"/>
          <p:nvPr/>
        </p:nvSpPr>
        <p:spPr>
          <a:xfrm>
            <a:off x="1170432" y="1773936"/>
            <a:ext cx="40233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457200" y="2212848"/>
            <a:ext cx="1828800" cy="256032"/>
          </a:xfrm>
          <a:prstGeom prst="rect">
            <a:avLst/>
          </a:prstGeom>
          <a:noFill/>
          <a:ln/>
        </p:spPr>
        <p:txBody>
          <a:bodyPr wrap="square" lIns="0" tIns="0" rIns="0" bIns="0" rtlCol="0" anchor="ctr"/>
          <a:lstStyle/>
          <a:p>
            <a:pPr algn="ctr" indent="0" marL="0">
              <a:buNone/>
            </a:pPr>
            <a:r>
              <a:rPr lang="en-US" sz="1400" b="1" dirty="0">
                <a:solidFill>
                  <a:srgbClr val="1B2A33"/>
                </a:solidFill>
                <a:latin typeface="Calibri" pitchFamily="34" charset="0"/>
                <a:ea typeface="Calibri" pitchFamily="34" charset="-122"/>
                <a:cs typeface="Calibri" pitchFamily="34" charset="-120"/>
              </a:rPr>
              <a:t>Commit</a:t>
            </a:r>
            <a:endParaRPr lang="en-US" sz="1400" dirty="0"/>
          </a:p>
        </p:txBody>
      </p:sp>
      <p:sp>
        <p:nvSpPr>
          <p:cNvPr id="8" name="Text 6"/>
          <p:cNvSpPr txBox="1"/>
          <p:nvPr/>
        </p:nvSpPr>
        <p:spPr>
          <a:xfrm>
            <a:off x="566928" y="2487168"/>
            <a:ext cx="1609344" cy="566928"/>
          </a:xfrm>
          <a:prstGeom prst="rect">
            <a:avLst/>
          </a:prstGeom>
          <a:noFill/>
          <a:ln/>
        </p:spPr>
        <p:txBody>
          <a:bodyPr wrap="square" lIns="0" tIns="0" rIns="0" bIns="0" rtlCol="0" anchor="ctr"/>
          <a:lstStyle/>
          <a:p>
            <a:pPr algn="ctr" indent="0" marL="0">
              <a:lnSpc>
                <a:spcPts val="1200"/>
              </a:lnSpc>
              <a:buNone/>
            </a:pPr>
            <a:r>
              <a:rPr lang="en-US" sz="1000" dirty="0">
                <a:solidFill>
                  <a:srgbClr val="4A5A66"/>
                </a:solidFill>
                <a:latin typeface="Calibri" pitchFamily="34" charset="0"/>
                <a:ea typeface="Calibri" pitchFamily="34" charset="-122"/>
                <a:cs typeface="Calibri" pitchFamily="34" charset="-120"/>
              </a:rPr>
              <a:t>Change committed to the master branch</a:t>
            </a:r>
            <a:endParaRPr lang="en-US" sz="1000" dirty="0"/>
          </a:p>
        </p:txBody>
      </p:sp>
      <p:sp>
        <p:nvSpPr>
          <p:cNvPr id="9" name="Shape 7"/>
          <p:cNvSpPr/>
          <p:nvPr/>
        </p:nvSpPr>
        <p:spPr>
          <a:xfrm>
            <a:off x="2350008" y="2212848"/>
            <a:ext cx="173736" cy="164592"/>
          </a:xfrm>
          <a:prstGeom prst="rightArrow">
            <a:avLst/>
          </a:prstGeom>
          <a:solidFill>
            <a:srgbClr val="D5DCE1"/>
          </a:solidFill>
          <a:ln w="12700">
            <a:solidFill>
              <a:srgbClr val="D5DCE1"/>
            </a:solidFill>
            <a:prstDash val="solid"/>
          </a:ln>
        </p:spPr>
      </p:sp>
      <p:sp>
        <p:nvSpPr>
          <p:cNvPr id="10" name="Shape 8"/>
          <p:cNvSpPr/>
          <p:nvPr/>
        </p:nvSpPr>
        <p:spPr>
          <a:xfrm>
            <a:off x="2587752" y="1517904"/>
            <a:ext cx="1828800" cy="1554480"/>
          </a:xfrm>
          <a:prstGeom prst="roundRect">
            <a:avLst>
              <a:gd name="adj" fmla="val 4706"/>
            </a:avLst>
          </a:prstGeom>
          <a:solidFill>
            <a:srgbClr val="F1F4F6"/>
          </a:solidFill>
          <a:ln w="12700">
            <a:solidFill>
              <a:srgbClr val="D5DCE1"/>
            </a:solidFill>
            <a:prstDash val="solid"/>
          </a:ln>
        </p:spPr>
      </p:sp>
      <p:sp>
        <p:nvSpPr>
          <p:cNvPr id="11" name="Shape 9"/>
          <p:cNvSpPr/>
          <p:nvPr/>
        </p:nvSpPr>
        <p:spPr>
          <a:xfrm>
            <a:off x="3300984" y="1719072"/>
            <a:ext cx="402336" cy="402336"/>
          </a:xfrm>
          <a:prstGeom prst="ellipse">
            <a:avLst/>
          </a:prstGeom>
          <a:solidFill>
            <a:srgbClr val="0F766E"/>
          </a:solidFill>
          <a:ln w="12700">
            <a:solidFill>
              <a:srgbClr val="0F766E"/>
            </a:solidFill>
            <a:prstDash val="solid"/>
          </a:ln>
        </p:spPr>
      </p:sp>
      <p:sp>
        <p:nvSpPr>
          <p:cNvPr id="12" name="Text 10"/>
          <p:cNvSpPr txBox="1"/>
          <p:nvPr/>
        </p:nvSpPr>
        <p:spPr>
          <a:xfrm>
            <a:off x="3300984" y="1773936"/>
            <a:ext cx="40233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2587752" y="2212848"/>
            <a:ext cx="1828800" cy="256032"/>
          </a:xfrm>
          <a:prstGeom prst="rect">
            <a:avLst/>
          </a:prstGeom>
          <a:noFill/>
          <a:ln/>
        </p:spPr>
        <p:txBody>
          <a:bodyPr wrap="square" lIns="0" tIns="0" rIns="0" bIns="0" rtlCol="0" anchor="ctr"/>
          <a:lstStyle/>
          <a:p>
            <a:pPr algn="ctr" indent="0" marL="0">
              <a:buNone/>
            </a:pPr>
            <a:r>
              <a:rPr lang="en-US" sz="1400" b="1" dirty="0">
                <a:solidFill>
                  <a:srgbClr val="1B2A33"/>
                </a:solidFill>
                <a:latin typeface="Calibri" pitchFamily="34" charset="0"/>
                <a:ea typeface="Calibri" pitchFamily="34" charset="-122"/>
                <a:cs typeface="Calibri" pitchFamily="34" charset="-120"/>
              </a:rPr>
              <a:t>Build</a:t>
            </a:r>
            <a:endParaRPr lang="en-US" sz="1400" dirty="0"/>
          </a:p>
        </p:txBody>
      </p:sp>
      <p:sp>
        <p:nvSpPr>
          <p:cNvPr id="14" name="Text 12"/>
          <p:cNvSpPr txBox="1"/>
          <p:nvPr/>
        </p:nvSpPr>
        <p:spPr>
          <a:xfrm>
            <a:off x="2697480" y="2487168"/>
            <a:ext cx="1609344" cy="566928"/>
          </a:xfrm>
          <a:prstGeom prst="rect">
            <a:avLst/>
          </a:prstGeom>
          <a:noFill/>
          <a:ln/>
        </p:spPr>
        <p:txBody>
          <a:bodyPr wrap="square" lIns="0" tIns="0" rIns="0" bIns="0" rtlCol="0" anchor="ctr"/>
          <a:lstStyle/>
          <a:p>
            <a:pPr algn="ctr" indent="0" marL="0">
              <a:lnSpc>
                <a:spcPts val="1200"/>
              </a:lnSpc>
              <a:buNone/>
            </a:pPr>
            <a:r>
              <a:rPr lang="en-US" sz="1000" dirty="0">
                <a:solidFill>
                  <a:srgbClr val="4A5A66"/>
                </a:solidFill>
                <a:latin typeface="Calibri" pitchFamily="34" charset="0"/>
                <a:ea typeface="Calibri" pitchFamily="34" charset="-122"/>
                <a:cs typeface="Calibri" pitchFamily="34" charset="-120"/>
              </a:rPr>
              <a:t>Managed CI builds the container image from source</a:t>
            </a:r>
            <a:endParaRPr lang="en-US" sz="1000" dirty="0"/>
          </a:p>
        </p:txBody>
      </p:sp>
      <p:sp>
        <p:nvSpPr>
          <p:cNvPr id="15" name="Shape 13"/>
          <p:cNvSpPr/>
          <p:nvPr/>
        </p:nvSpPr>
        <p:spPr>
          <a:xfrm>
            <a:off x="4480560" y="2212848"/>
            <a:ext cx="173736" cy="164592"/>
          </a:xfrm>
          <a:prstGeom prst="rightArrow">
            <a:avLst/>
          </a:prstGeom>
          <a:solidFill>
            <a:srgbClr val="D5DCE1"/>
          </a:solidFill>
          <a:ln w="12700">
            <a:solidFill>
              <a:srgbClr val="D5DCE1"/>
            </a:solidFill>
            <a:prstDash val="solid"/>
          </a:ln>
        </p:spPr>
      </p:sp>
      <p:sp>
        <p:nvSpPr>
          <p:cNvPr id="16" name="Shape 14"/>
          <p:cNvSpPr/>
          <p:nvPr/>
        </p:nvSpPr>
        <p:spPr>
          <a:xfrm>
            <a:off x="4718304" y="1517904"/>
            <a:ext cx="1828800" cy="1554480"/>
          </a:xfrm>
          <a:prstGeom prst="roundRect">
            <a:avLst>
              <a:gd name="adj" fmla="val 4706"/>
            </a:avLst>
          </a:prstGeom>
          <a:solidFill>
            <a:srgbClr val="F1F4F6"/>
          </a:solidFill>
          <a:ln w="12700">
            <a:solidFill>
              <a:srgbClr val="D5DCE1"/>
            </a:solidFill>
            <a:prstDash val="solid"/>
          </a:ln>
        </p:spPr>
      </p:sp>
      <p:sp>
        <p:nvSpPr>
          <p:cNvPr id="17" name="Shape 15"/>
          <p:cNvSpPr/>
          <p:nvPr/>
        </p:nvSpPr>
        <p:spPr>
          <a:xfrm>
            <a:off x="5431536" y="1719072"/>
            <a:ext cx="402336" cy="402336"/>
          </a:xfrm>
          <a:prstGeom prst="ellipse">
            <a:avLst/>
          </a:prstGeom>
          <a:solidFill>
            <a:srgbClr val="0F766E"/>
          </a:solidFill>
          <a:ln w="12700">
            <a:solidFill>
              <a:srgbClr val="0F766E"/>
            </a:solidFill>
            <a:prstDash val="solid"/>
          </a:ln>
        </p:spPr>
      </p:sp>
      <p:sp>
        <p:nvSpPr>
          <p:cNvPr id="18" name="Text 16"/>
          <p:cNvSpPr txBox="1"/>
          <p:nvPr/>
        </p:nvSpPr>
        <p:spPr>
          <a:xfrm>
            <a:off x="5431536" y="1773936"/>
            <a:ext cx="40233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4718304" y="2212848"/>
            <a:ext cx="1828800" cy="256032"/>
          </a:xfrm>
          <a:prstGeom prst="rect">
            <a:avLst/>
          </a:prstGeom>
          <a:noFill/>
          <a:ln/>
        </p:spPr>
        <p:txBody>
          <a:bodyPr wrap="square" lIns="0" tIns="0" rIns="0" bIns="0" rtlCol="0" anchor="ctr"/>
          <a:lstStyle/>
          <a:p>
            <a:pPr algn="ctr" indent="0" marL="0">
              <a:buNone/>
            </a:pPr>
            <a:r>
              <a:rPr lang="en-US" sz="1400" b="1" dirty="0">
                <a:solidFill>
                  <a:srgbClr val="1B2A33"/>
                </a:solidFill>
                <a:latin typeface="Calibri" pitchFamily="34" charset="0"/>
                <a:ea typeface="Calibri" pitchFamily="34" charset="-122"/>
                <a:cs typeface="Calibri" pitchFamily="34" charset="-120"/>
              </a:rPr>
              <a:t>Registry</a:t>
            </a:r>
            <a:endParaRPr lang="en-US" sz="1400" dirty="0"/>
          </a:p>
        </p:txBody>
      </p:sp>
      <p:sp>
        <p:nvSpPr>
          <p:cNvPr id="20" name="Text 18"/>
          <p:cNvSpPr txBox="1"/>
          <p:nvPr/>
        </p:nvSpPr>
        <p:spPr>
          <a:xfrm>
            <a:off x="4828032" y="2487168"/>
            <a:ext cx="1609344" cy="566928"/>
          </a:xfrm>
          <a:prstGeom prst="rect">
            <a:avLst/>
          </a:prstGeom>
          <a:noFill/>
          <a:ln/>
        </p:spPr>
        <p:txBody>
          <a:bodyPr wrap="square" lIns="0" tIns="0" rIns="0" bIns="0" rtlCol="0" anchor="ctr"/>
          <a:lstStyle/>
          <a:p>
            <a:pPr algn="ctr" indent="0" marL="0">
              <a:lnSpc>
                <a:spcPts val="1200"/>
              </a:lnSpc>
              <a:buNone/>
            </a:pPr>
            <a:r>
              <a:rPr lang="en-US" sz="1000" dirty="0">
                <a:solidFill>
                  <a:srgbClr val="4A5A66"/>
                </a:solidFill>
                <a:latin typeface="Calibri" pitchFamily="34" charset="0"/>
                <a:ea typeface="Calibri" pitchFamily="34" charset="-122"/>
                <a:cs typeface="Calibri" pitchFamily="34" charset="-120"/>
              </a:rPr>
              <a:t>Image pushed and tagged with the commit SHA</a:t>
            </a:r>
            <a:endParaRPr lang="en-US" sz="1000" dirty="0"/>
          </a:p>
        </p:txBody>
      </p:sp>
      <p:sp>
        <p:nvSpPr>
          <p:cNvPr id="21" name="Shape 19"/>
          <p:cNvSpPr/>
          <p:nvPr/>
        </p:nvSpPr>
        <p:spPr>
          <a:xfrm>
            <a:off x="6611112" y="2212848"/>
            <a:ext cx="173736" cy="164592"/>
          </a:xfrm>
          <a:prstGeom prst="rightArrow">
            <a:avLst/>
          </a:prstGeom>
          <a:solidFill>
            <a:srgbClr val="D5DCE1"/>
          </a:solidFill>
          <a:ln w="12700">
            <a:solidFill>
              <a:srgbClr val="D5DCE1"/>
            </a:solidFill>
            <a:prstDash val="solid"/>
          </a:ln>
        </p:spPr>
      </p:sp>
      <p:sp>
        <p:nvSpPr>
          <p:cNvPr id="22" name="Shape 20"/>
          <p:cNvSpPr/>
          <p:nvPr/>
        </p:nvSpPr>
        <p:spPr>
          <a:xfrm>
            <a:off x="6848856" y="1517904"/>
            <a:ext cx="1828800" cy="1554480"/>
          </a:xfrm>
          <a:prstGeom prst="roundRect">
            <a:avLst>
              <a:gd name="adj" fmla="val 4706"/>
            </a:avLst>
          </a:prstGeom>
          <a:solidFill>
            <a:srgbClr val="F1F4F6"/>
          </a:solidFill>
          <a:ln w="12700">
            <a:solidFill>
              <a:srgbClr val="D5DCE1"/>
            </a:solidFill>
            <a:prstDash val="solid"/>
          </a:ln>
        </p:spPr>
      </p:sp>
      <p:sp>
        <p:nvSpPr>
          <p:cNvPr id="23" name="Shape 21"/>
          <p:cNvSpPr/>
          <p:nvPr/>
        </p:nvSpPr>
        <p:spPr>
          <a:xfrm>
            <a:off x="7562088" y="1719072"/>
            <a:ext cx="402336" cy="402336"/>
          </a:xfrm>
          <a:prstGeom prst="ellipse">
            <a:avLst/>
          </a:prstGeom>
          <a:solidFill>
            <a:srgbClr val="0F766E"/>
          </a:solidFill>
          <a:ln w="12700">
            <a:solidFill>
              <a:srgbClr val="0F766E"/>
            </a:solidFill>
            <a:prstDash val="solid"/>
          </a:ln>
        </p:spPr>
      </p:sp>
      <p:sp>
        <p:nvSpPr>
          <p:cNvPr id="24" name="Text 22"/>
          <p:cNvSpPr txBox="1"/>
          <p:nvPr/>
        </p:nvSpPr>
        <p:spPr>
          <a:xfrm>
            <a:off x="7562088" y="1773936"/>
            <a:ext cx="40233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6848856" y="2212848"/>
            <a:ext cx="1828800" cy="256032"/>
          </a:xfrm>
          <a:prstGeom prst="rect">
            <a:avLst/>
          </a:prstGeom>
          <a:noFill/>
          <a:ln/>
        </p:spPr>
        <p:txBody>
          <a:bodyPr wrap="square" lIns="0" tIns="0" rIns="0" bIns="0" rtlCol="0" anchor="ctr"/>
          <a:lstStyle/>
          <a:p>
            <a:pPr algn="ctr" indent="0" marL="0">
              <a:buNone/>
            </a:pPr>
            <a:r>
              <a:rPr lang="en-US" sz="1400" b="1" dirty="0">
                <a:solidFill>
                  <a:srgbClr val="1B2A33"/>
                </a:solidFill>
                <a:latin typeface="Calibri" pitchFamily="34" charset="0"/>
                <a:ea typeface="Calibri" pitchFamily="34" charset="-122"/>
                <a:cs typeface="Calibri" pitchFamily="34" charset="-120"/>
              </a:rPr>
              <a:t>Deploy</a:t>
            </a:r>
            <a:endParaRPr lang="en-US" sz="1400" dirty="0"/>
          </a:p>
        </p:txBody>
      </p:sp>
      <p:sp>
        <p:nvSpPr>
          <p:cNvPr id="26" name="Text 24"/>
          <p:cNvSpPr txBox="1"/>
          <p:nvPr/>
        </p:nvSpPr>
        <p:spPr>
          <a:xfrm>
            <a:off x="6958584" y="2487168"/>
            <a:ext cx="1609344" cy="566928"/>
          </a:xfrm>
          <a:prstGeom prst="rect">
            <a:avLst/>
          </a:prstGeom>
          <a:noFill/>
          <a:ln/>
        </p:spPr>
        <p:txBody>
          <a:bodyPr wrap="square" lIns="0" tIns="0" rIns="0" bIns="0" rtlCol="0" anchor="ctr"/>
          <a:lstStyle/>
          <a:p>
            <a:pPr algn="ctr" indent="0" marL="0">
              <a:lnSpc>
                <a:spcPts val="1200"/>
              </a:lnSpc>
              <a:buNone/>
            </a:pPr>
            <a:r>
              <a:rPr lang="en-US" sz="1000" dirty="0">
                <a:solidFill>
                  <a:srgbClr val="4A5A66"/>
                </a:solidFill>
                <a:latin typeface="Calibri" pitchFamily="34" charset="0"/>
                <a:ea typeface="Calibri" pitchFamily="34" charset="-122"/>
                <a:cs typeface="Calibri" pitchFamily="34" charset="-120"/>
              </a:rPr>
              <a:t>New revision rolled out to the runtime service</a:t>
            </a:r>
            <a:endParaRPr lang="en-US" sz="1000" dirty="0"/>
          </a:p>
        </p:txBody>
      </p:sp>
      <p:sp>
        <p:nvSpPr>
          <p:cNvPr id="27" name="Text 25"/>
          <p:cNvSpPr txBox="1"/>
          <p:nvPr/>
        </p:nvSpPr>
        <p:spPr>
          <a:xfrm>
            <a:off x="457200" y="3145536"/>
            <a:ext cx="8220456" cy="329184"/>
          </a:xfrm>
          <a:prstGeom prst="rect">
            <a:avLst/>
          </a:prstGeom>
          <a:noFill/>
          <a:ln/>
        </p:spPr>
        <p:txBody>
          <a:bodyPr wrap="square" lIns="0" tIns="0" rIns="0" bIns="0" rtlCol="0" anchor="ctr"/>
          <a:lstStyle/>
          <a:p>
            <a:pPr indent="0" marL="0">
              <a:buNone/>
            </a:pPr>
            <a:r>
              <a:rPr lang="en-US" sz="1050" i="1" dirty="0">
                <a:solidFill>
                  <a:srgbClr val="4A5A66"/>
                </a:solidFill>
                <a:latin typeface="Calibri" pitchFamily="34" charset="0"/>
                <a:ea typeface="Calibri" pitchFamily="34" charset="-122"/>
                <a:cs typeface="Calibri" pitchFamily="34" charset="-120"/>
              </a:rPr>
              <a:t>Current deployment workflow: new builds are submitted manually via git, passing the short commit SHA explicitly. The build config already supports trigger-on-push; enabling the repository trigger is the remaining step to full CI/CD.</a:t>
            </a:r>
            <a:endParaRPr lang="en-US" sz="1050" dirty="0"/>
          </a:p>
        </p:txBody>
      </p:sp>
      <p:sp>
        <p:nvSpPr>
          <p:cNvPr id="28" name="Shape 26"/>
          <p:cNvSpPr/>
          <p:nvPr/>
        </p:nvSpPr>
        <p:spPr>
          <a:xfrm>
            <a:off x="457200" y="3547872"/>
            <a:ext cx="8220456" cy="1024128"/>
          </a:xfrm>
          <a:prstGeom prst="roundRect">
            <a:avLst>
              <a:gd name="adj" fmla="val 5357"/>
            </a:avLst>
          </a:prstGeom>
          <a:solidFill>
            <a:srgbClr val="FFFFFF"/>
          </a:solidFill>
          <a:ln w="19050">
            <a:solidFill>
              <a:srgbClr val="0F766E"/>
            </a:solidFill>
            <a:prstDash val="solid"/>
          </a:ln>
        </p:spPr>
      </p:sp>
      <p:sp>
        <p:nvSpPr>
          <p:cNvPr id="29" name="Text 27"/>
          <p:cNvSpPr txBox="1"/>
          <p:nvPr/>
        </p:nvSpPr>
        <p:spPr>
          <a:xfrm>
            <a:off x="713232" y="3657600"/>
            <a:ext cx="2743200" cy="237744"/>
          </a:xfrm>
          <a:prstGeom prst="rect">
            <a:avLst/>
          </a:prstGeom>
          <a:noFill/>
          <a:ln/>
        </p:spPr>
        <p:txBody>
          <a:bodyPr wrap="square" lIns="0" tIns="0" rIns="0" bIns="0" rtlCol="0" anchor="ctr"/>
          <a:lstStyle/>
          <a:p>
            <a:pPr indent="0" marL="0">
              <a:buNone/>
            </a:pPr>
            <a:r>
              <a:rPr lang="en-US" sz="1100" b="1" spc="150" kern="0" dirty="0">
                <a:solidFill>
                  <a:srgbClr val="0F766E"/>
                </a:solidFill>
                <a:latin typeface="Calibri" pitchFamily="34" charset="0"/>
                <a:ea typeface="Calibri" pitchFamily="34" charset="-122"/>
                <a:cs typeface="Calibri" pitchFamily="34" charset="-120"/>
              </a:rPr>
              <a:t>Permission boundary</a:t>
            </a:r>
            <a:endParaRPr lang="en-US" sz="1100" dirty="0"/>
          </a:p>
        </p:txBody>
      </p:sp>
      <p:sp>
        <p:nvSpPr>
          <p:cNvPr id="30" name="Text 28"/>
          <p:cNvSpPr txBox="1"/>
          <p:nvPr/>
        </p:nvSpPr>
        <p:spPr>
          <a:xfrm>
            <a:off x="713232" y="3895344"/>
            <a:ext cx="7726680" cy="621792"/>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The deploy identity is a dedicated service account, not a person, nor the project default. It holds only the four roles the pipeline needs to invoke the service, connect to the database, write objects, and read its own secrets, so a compromised build cannot reach anything the deploy does not already touch.</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7772400" cy="502920"/>
          </a:xfrm>
          <a:prstGeom prst="rect">
            <a:avLst/>
          </a:prstGeom>
          <a:noFill/>
          <a:ln/>
        </p:spPr>
        <p:txBody>
          <a:bodyPr wrap="square" lIns="0" tIns="0" rIns="0" bIns="0" rtlCol="0" anchor="ctr"/>
          <a:lstStyle/>
          <a:p>
            <a:pPr indent="0" marL="0">
              <a:buNone/>
            </a:pPr>
            <a:r>
              <a:rPr lang="en-US" sz="3400" b="1" dirty="0">
                <a:solidFill>
                  <a:srgbClr val="1B2A33"/>
                </a:solidFill>
                <a:latin typeface="Cambria" pitchFamily="34" charset="0"/>
                <a:ea typeface="Cambria" pitchFamily="34" charset="-122"/>
                <a:cs typeface="Cambria" pitchFamily="34" charset="-120"/>
              </a:rPr>
              <a:t>Right-Sizing the Database Tier</a:t>
            </a:r>
            <a:endParaRPr lang="en-US" sz="3400" dirty="0"/>
          </a:p>
        </p:txBody>
      </p:sp>
      <p:sp>
        <p:nvSpPr>
          <p:cNvPr id="3" name="Text 1"/>
          <p:cNvSpPr txBox="1"/>
          <p:nvPr/>
        </p:nvSpPr>
        <p:spPr>
          <a:xfrm>
            <a:off x="457200" y="841248"/>
            <a:ext cx="8046720" cy="274320"/>
          </a:xfrm>
          <a:prstGeom prst="rect">
            <a:avLst/>
          </a:prstGeom>
          <a:noFill/>
          <a:ln/>
        </p:spPr>
        <p:txBody>
          <a:bodyPr wrap="square" lIns="0" tIns="0" rIns="0" bIns="0" rtlCol="0" anchor="ctr"/>
          <a:lstStyle/>
          <a:p>
            <a:pPr indent="0" marL="0">
              <a:buNone/>
            </a:pPr>
            <a:r>
              <a:rPr lang="en-US" sz="1400" dirty="0">
                <a:solidFill>
                  <a:srgbClr val="4A5A66"/>
                </a:solidFill>
                <a:latin typeface="Calibri" pitchFamily="34" charset="0"/>
                <a:ea typeface="Calibri" pitchFamily="34" charset="-122"/>
                <a:cs typeface="Calibri" pitchFamily="34" charset="-120"/>
              </a:rPr>
              <a:t>Reduced costs to align with pre-revenue platform usage and budget requirements.</a:t>
            </a:r>
            <a:endParaRPr lang="en-US" sz="1400" dirty="0"/>
          </a:p>
        </p:txBody>
      </p:sp>
      <p:sp>
        <p:nvSpPr>
          <p:cNvPr id="4" name="Shape 2"/>
          <p:cNvSpPr/>
          <p:nvPr/>
        </p:nvSpPr>
        <p:spPr>
          <a:xfrm>
            <a:off x="411480" y="1417320"/>
            <a:ext cx="3931920" cy="1874520"/>
          </a:xfrm>
          <a:prstGeom prst="roundRect">
            <a:avLst>
              <a:gd name="adj" fmla="val 3902"/>
            </a:avLst>
          </a:prstGeom>
          <a:solidFill>
            <a:srgbClr val="F1F4F6"/>
          </a:solidFill>
          <a:ln w="12700">
            <a:solidFill>
              <a:srgbClr val="D5DCE1"/>
            </a:solidFill>
            <a:prstDash val="solid"/>
          </a:ln>
        </p:spPr>
      </p:sp>
      <p:sp>
        <p:nvSpPr>
          <p:cNvPr id="5" name="Text 3"/>
          <p:cNvSpPr txBox="1"/>
          <p:nvPr/>
        </p:nvSpPr>
        <p:spPr>
          <a:xfrm>
            <a:off x="685800" y="1563624"/>
            <a:ext cx="1828800" cy="237744"/>
          </a:xfrm>
          <a:prstGeom prst="rect">
            <a:avLst/>
          </a:prstGeom>
          <a:noFill/>
          <a:ln/>
        </p:spPr>
        <p:txBody>
          <a:bodyPr wrap="square" lIns="0" tIns="0" rIns="0" bIns="0" rtlCol="0" anchor="ctr"/>
          <a:lstStyle/>
          <a:p>
            <a:pPr indent="0" marL="0">
              <a:buNone/>
            </a:pPr>
            <a:r>
              <a:rPr lang="en-US" sz="1100" b="1" spc="150" kern="0" dirty="0">
                <a:solidFill>
                  <a:srgbClr val="4A5A66"/>
                </a:solidFill>
                <a:latin typeface="Calibri" pitchFamily="34" charset="0"/>
                <a:ea typeface="Calibri" pitchFamily="34" charset="-122"/>
                <a:cs typeface="Calibri" pitchFamily="34" charset="-120"/>
              </a:rPr>
              <a:t>BEFORE</a:t>
            </a:r>
            <a:endParaRPr lang="en-US" sz="1100" dirty="0"/>
          </a:p>
        </p:txBody>
      </p:sp>
      <p:sp>
        <p:nvSpPr>
          <p:cNvPr id="6" name="Text 4"/>
          <p:cNvSpPr txBox="1"/>
          <p:nvPr/>
        </p:nvSpPr>
        <p:spPr>
          <a:xfrm>
            <a:off x="685800" y="1837944"/>
            <a:ext cx="3383280" cy="274320"/>
          </a:xfrm>
          <a:prstGeom prst="rect">
            <a:avLst/>
          </a:prstGeom>
          <a:noFill/>
          <a:ln/>
        </p:spPr>
        <p:txBody>
          <a:bodyPr wrap="square" lIns="0" tIns="0" rIns="0" bIns="0" rtlCol="0" anchor="ctr"/>
          <a:lstStyle/>
          <a:p>
            <a:pPr indent="0" marL="0">
              <a:buNone/>
            </a:pPr>
            <a:r>
              <a:rPr lang="en-US" sz="1600" b="1" dirty="0">
                <a:solidFill>
                  <a:srgbClr val="1B2A33"/>
                </a:solidFill>
                <a:latin typeface="Calibri" pitchFamily="34" charset="0"/>
                <a:ea typeface="Calibri" pitchFamily="34" charset="-122"/>
                <a:cs typeface="Calibri" pitchFamily="34" charset="-120"/>
              </a:rPr>
              <a:t>Performance-optimized tier</a:t>
            </a:r>
            <a:endParaRPr lang="en-US" sz="1600" dirty="0"/>
          </a:p>
        </p:txBody>
      </p:sp>
      <p:sp>
        <p:nvSpPr>
          <p:cNvPr id="7" name="Text 5"/>
          <p:cNvSpPr txBox="1"/>
          <p:nvPr/>
        </p:nvSpPr>
        <p:spPr>
          <a:xfrm>
            <a:off x="685800" y="2203704"/>
            <a:ext cx="3383280" cy="91440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B2A33"/>
                </a:solidFill>
                <a:latin typeface="Calibri" pitchFamily="34" charset="0"/>
                <a:ea typeface="Calibri" pitchFamily="34" charset="-122"/>
                <a:cs typeface="Calibri" pitchFamily="34" charset="-120"/>
              </a:rPr>
              <a:t>8 vCPU class, high-availability edition</a:t>
            </a:r>
            <a:endParaRPr lang="en-US" sz="1150" dirty="0"/>
          </a:p>
          <a:p>
            <a:pPr marL="342900" indent="-342900">
              <a:spcAft>
                <a:spcPts val="500"/>
              </a:spcAft>
              <a:buSzPct val="100000"/>
              <a:buChar char="•"/>
            </a:pPr>
            <a:r>
              <a:rPr lang="en-US" sz="1150" dirty="0">
                <a:solidFill>
                  <a:srgbClr val="1B2A33"/>
                </a:solidFill>
                <a:latin typeface="Calibri" pitchFamily="34" charset="0"/>
                <a:ea typeface="Calibri" pitchFamily="34" charset="-122"/>
                <a:cs typeface="Calibri" pitchFamily="34" charset="-120"/>
              </a:rPr>
              <a:t>Provisioned for sustained concurrent load</a:t>
            </a:r>
            <a:endParaRPr lang="en-US" sz="1150" dirty="0"/>
          </a:p>
          <a:p>
            <a:pPr marL="342900" indent="-342900">
              <a:spcAft>
                <a:spcPts val="500"/>
              </a:spcAft>
              <a:buSzPct val="100000"/>
              <a:buChar char="•"/>
            </a:pPr>
            <a:r>
              <a:rPr lang="en-US" sz="1150" dirty="0">
                <a:solidFill>
                  <a:srgbClr val="1B2A33"/>
                </a:solidFill>
                <a:latin typeface="Calibri" pitchFamily="34" charset="0"/>
                <a:ea typeface="Calibri" pitchFamily="34" charset="-122"/>
                <a:cs typeface="Calibri" pitchFamily="34" charset="-120"/>
              </a:rPr>
              <a:t>Running 24/7, including idle periods</a:t>
            </a:r>
            <a:endParaRPr lang="en-US" sz="1150" dirty="0"/>
          </a:p>
        </p:txBody>
      </p:sp>
      <p:sp>
        <p:nvSpPr>
          <p:cNvPr id="8" name="Shape 6"/>
          <p:cNvSpPr/>
          <p:nvPr/>
        </p:nvSpPr>
        <p:spPr>
          <a:xfrm>
            <a:off x="4800600" y="1417320"/>
            <a:ext cx="3931920" cy="1874520"/>
          </a:xfrm>
          <a:prstGeom prst="roundRect">
            <a:avLst>
              <a:gd name="adj" fmla="val 3902"/>
            </a:avLst>
          </a:prstGeom>
          <a:solidFill>
            <a:srgbClr val="1B2A33"/>
          </a:solidFill>
          <a:ln w="12700">
            <a:solidFill>
              <a:srgbClr val="1B2A33"/>
            </a:solidFill>
            <a:prstDash val="solid"/>
          </a:ln>
        </p:spPr>
      </p:sp>
      <p:sp>
        <p:nvSpPr>
          <p:cNvPr id="9" name="Text 7"/>
          <p:cNvSpPr txBox="1"/>
          <p:nvPr/>
        </p:nvSpPr>
        <p:spPr>
          <a:xfrm>
            <a:off x="5074920" y="1563624"/>
            <a:ext cx="1828800" cy="237744"/>
          </a:xfrm>
          <a:prstGeom prst="rect">
            <a:avLst/>
          </a:prstGeom>
          <a:noFill/>
          <a:ln/>
        </p:spPr>
        <p:txBody>
          <a:bodyPr wrap="square" lIns="0" tIns="0" rIns="0" bIns="0" rtlCol="0" anchor="ctr"/>
          <a:lstStyle/>
          <a:p>
            <a:pPr indent="0" marL="0">
              <a:buNone/>
            </a:pPr>
            <a:r>
              <a:rPr lang="en-US" sz="1100" b="1" spc="150" kern="0" dirty="0">
                <a:solidFill>
                  <a:srgbClr val="5EEAD4"/>
                </a:solidFill>
                <a:latin typeface="Calibri" pitchFamily="34" charset="0"/>
                <a:ea typeface="Calibri" pitchFamily="34" charset="-122"/>
                <a:cs typeface="Calibri" pitchFamily="34" charset="-120"/>
              </a:rPr>
              <a:t>AFTER</a:t>
            </a:r>
            <a:endParaRPr lang="en-US" sz="1100" dirty="0"/>
          </a:p>
        </p:txBody>
      </p:sp>
      <p:sp>
        <p:nvSpPr>
          <p:cNvPr id="10" name="Text 8"/>
          <p:cNvSpPr txBox="1"/>
          <p:nvPr/>
        </p:nvSpPr>
        <p:spPr>
          <a:xfrm>
            <a:off x="5074920" y="1837944"/>
            <a:ext cx="338328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Shared-core small instance</a:t>
            </a:r>
            <a:endParaRPr lang="en-US" sz="1600" dirty="0"/>
          </a:p>
        </p:txBody>
      </p:sp>
      <p:sp>
        <p:nvSpPr>
          <p:cNvPr id="11" name="Text 9"/>
          <p:cNvSpPr txBox="1"/>
          <p:nvPr/>
        </p:nvSpPr>
        <p:spPr>
          <a:xfrm>
            <a:off x="5074920" y="2203704"/>
            <a:ext cx="3383280" cy="91440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D5DCE1"/>
                </a:solidFill>
                <a:latin typeface="Calibri" pitchFamily="34" charset="0"/>
                <a:ea typeface="Calibri" pitchFamily="34" charset="-122"/>
                <a:cs typeface="Calibri" pitchFamily="34" charset="-120"/>
              </a:rPr>
              <a:t>Sized to measured query volume</a:t>
            </a:r>
            <a:endParaRPr lang="en-US" sz="1150" dirty="0"/>
          </a:p>
          <a:p>
            <a:pPr marL="342900" indent="-342900">
              <a:spcAft>
                <a:spcPts val="500"/>
              </a:spcAft>
              <a:buSzPct val="100000"/>
              <a:buChar char="•"/>
            </a:pPr>
            <a:r>
              <a:rPr lang="en-US" sz="1150" dirty="0">
                <a:solidFill>
                  <a:srgbClr val="D5DCE1"/>
                </a:solidFill>
                <a:latin typeface="Calibri" pitchFamily="34" charset="0"/>
                <a:ea typeface="Calibri" pitchFamily="34" charset="-122"/>
                <a:cs typeface="Calibri" pitchFamily="34" charset="-120"/>
              </a:rPr>
              <a:t>Standard edition, single zone</a:t>
            </a:r>
            <a:endParaRPr lang="en-US" sz="1150" dirty="0"/>
          </a:p>
          <a:p>
            <a:pPr marL="342900" indent="-342900">
              <a:spcAft>
                <a:spcPts val="500"/>
              </a:spcAft>
              <a:buSzPct val="100000"/>
              <a:buChar char="•"/>
            </a:pPr>
            <a:r>
              <a:rPr lang="en-US" sz="1150" dirty="0">
                <a:solidFill>
                  <a:srgbClr val="D5DCE1"/>
                </a:solidFill>
                <a:latin typeface="Calibri" pitchFamily="34" charset="0"/>
                <a:ea typeface="Calibri" pitchFamily="34" charset="-122"/>
                <a:cs typeface="Calibri" pitchFamily="34" charset="-120"/>
              </a:rPr>
              <a:t>Manually stopped between work sessions</a:t>
            </a:r>
            <a:endParaRPr lang="en-US" sz="1150" dirty="0"/>
          </a:p>
        </p:txBody>
      </p:sp>
      <p:sp>
        <p:nvSpPr>
          <p:cNvPr id="12" name="Shape 10"/>
          <p:cNvSpPr/>
          <p:nvPr/>
        </p:nvSpPr>
        <p:spPr>
          <a:xfrm>
            <a:off x="411480" y="3520440"/>
            <a:ext cx="8321040" cy="1051560"/>
          </a:xfrm>
          <a:prstGeom prst="roundRect">
            <a:avLst>
              <a:gd name="adj" fmla="val 5217"/>
            </a:avLst>
          </a:prstGeom>
          <a:solidFill>
            <a:srgbClr val="FFFFFF"/>
          </a:solidFill>
          <a:ln w="19050">
            <a:solidFill>
              <a:srgbClr val="0F766E"/>
            </a:solidFill>
            <a:prstDash val="solid"/>
          </a:ln>
        </p:spPr>
      </p:sp>
      <p:sp>
        <p:nvSpPr>
          <p:cNvPr id="13" name="Text 11"/>
          <p:cNvSpPr txBox="1"/>
          <p:nvPr/>
        </p:nvSpPr>
        <p:spPr>
          <a:xfrm>
            <a:off x="685800" y="3639312"/>
            <a:ext cx="2743200" cy="237744"/>
          </a:xfrm>
          <a:prstGeom prst="rect">
            <a:avLst/>
          </a:prstGeom>
          <a:noFill/>
          <a:ln/>
        </p:spPr>
        <p:txBody>
          <a:bodyPr wrap="square" lIns="0" tIns="0" rIns="0" bIns="0" rtlCol="0" anchor="ctr"/>
          <a:lstStyle/>
          <a:p>
            <a:pPr indent="0" marL="0">
              <a:buNone/>
            </a:pPr>
            <a:r>
              <a:rPr lang="en-US" sz="1100" b="1" spc="150" kern="0" dirty="0">
                <a:solidFill>
                  <a:srgbClr val="0F766E"/>
                </a:solidFill>
                <a:latin typeface="Calibri" pitchFamily="34" charset="0"/>
                <a:ea typeface="Calibri" pitchFamily="34" charset="-122"/>
                <a:cs typeface="Calibri" pitchFamily="34" charset="-120"/>
              </a:rPr>
              <a:t>The tradeoff</a:t>
            </a:r>
            <a:endParaRPr lang="en-US" sz="1100" dirty="0"/>
          </a:p>
        </p:txBody>
      </p:sp>
      <p:sp>
        <p:nvSpPr>
          <p:cNvPr id="14" name="Text 12"/>
          <p:cNvSpPr txBox="1"/>
          <p:nvPr/>
        </p:nvSpPr>
        <p:spPr>
          <a:xfrm>
            <a:off x="685800" y="3877056"/>
            <a:ext cx="7772400" cy="621792"/>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We gave up burst headroom and automatic failover. Based on current traffic, neither was in use, and the platform has no paying clients yet, so there was no capacity risk. The decision is reversible with a one-tier change if the load justifies it. GCP's cost forecast showed monthly database spend dropping by 96% after the tier change.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2026-09-25T17:36:09Z</dcterms:created>
  <dcterms:modified xsi:type="dcterms:W3CDTF">2026-09-25T17:36:09Z</dcterms:modified>
</cp:coreProperties>
</file>